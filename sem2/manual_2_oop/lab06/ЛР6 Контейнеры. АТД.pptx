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B84DB175-EB28-46C0-A3DB-9DADEBA0EB7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25BA65-5B66-4F20-9B35-0CA68C05D7C5}" type="slidenum">
              <a: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DBF6F8-9456-4E28-9CEE-B1F8B6B60E3A}" type="slidenum">
              <a: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CC9599-0980-46E7-ACA1-5205443DE0EE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US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3131AD0-4B91-4E2A-9995-565C4C21AC56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08B4F9-3E09-40D5-ACE4-D147CD431A70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l">
              <a:buNone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1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12DB0A1-F0D3-4DFF-AEFE-B22DB5279B79}" type="slidenum">
              <a:rPr lang="ru" sz="11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8A81AA-5832-4241-B36F-01A7304163B9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5D2E2B3-C789-48E2-837E-71FD0AD41564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5B79D4-8697-4DC7-90DE-CE704EF8DE46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22C328-A132-463A-90C2-2B9BB50D30C3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987D5B-EAF6-4939-B212-BDAF5F7E30CC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FAD159-3CDC-4F26-A689-5D6951C8FC9A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1281E2-6D5D-4F39-B7D9-490361EC3C80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E44A23-92FF-4F8B-8700-88FF0280997C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60;p14"/>
          <p:cNvSpPr/>
          <p:nvPr/>
        </p:nvSpPr>
        <p:spPr>
          <a:xfrm>
            <a:off x="356760" y="0"/>
            <a:ext cx="8182440" cy="5143320"/>
          </a:xfrm>
          <a:prstGeom prst="rect">
            <a:avLst/>
          </a:prstGeom>
          <a:gradFill rotWithShape="0"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3" name="Google Shape;61;p14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82400" y="1025640"/>
            <a:ext cx="4578480" cy="15228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4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Абстрактные типы данных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2284200" y="2828880"/>
            <a:ext cx="4578480" cy="5112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45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Контейнеры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68;p15"/>
          <p:cNvSpPr/>
          <p:nvPr/>
        </p:nvSpPr>
        <p:spPr>
          <a:xfrm>
            <a:off x="0" y="0"/>
            <a:ext cx="914148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" name="Google Shape;69;p15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Google Shape;70;p15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Google Shape;71;p15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Google Shape;72;p15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Google Shape;73;p15"/>
          <p:cNvSpPr/>
          <p:nvPr/>
        </p:nvSpPr>
        <p:spPr>
          <a:xfrm>
            <a:off x="483120" y="476640"/>
            <a:ext cx="8180640" cy="1155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Абстракция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947880" y="1632960"/>
            <a:ext cx="7468920" cy="27504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177840" indent="-177840" algn="l">
              <a:lnSpc>
                <a:spcPct val="9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" sz="1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Абстракция</a:t>
            </a:r>
            <a:r>
              <a:rPr lang="ru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- подразумевает собой процесс изменения уровня детализации программы. Когда мы абстрагируемся от проблемы, мы предполагаем игнорирование ряда подробностей с тем, чтобы свести задачу к более простой.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algn="l">
              <a:lnSpc>
                <a:spcPct val="90000"/>
              </a:lnSpc>
              <a:spcBef>
                <a:spcPts val="1199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Примером абстракции может служить использование функций и классов, реализованных в сторонней библиотеке. Мы не задумываемся о том, как реализована та или иная функция или метод, а просто используем их для решения собственных задач.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80;p16"/>
          <p:cNvSpPr/>
          <p:nvPr/>
        </p:nvSpPr>
        <p:spPr>
          <a:xfrm>
            <a:off x="0" y="0"/>
            <a:ext cx="914148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" name="Google Shape;81;p16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Google Shape;82;p16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Google Shape;83;p16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Google Shape;84;p16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Google Shape;85;p16"/>
          <p:cNvSpPr/>
          <p:nvPr/>
        </p:nvSpPr>
        <p:spPr>
          <a:xfrm>
            <a:off x="483120" y="476640"/>
            <a:ext cx="8180640" cy="1155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Определение абстрактного типа данных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65160" y="1632960"/>
            <a:ext cx="7698240" cy="27504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177840" indent="-177840" algn="l">
              <a:lnSpc>
                <a:spcPct val="9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" sz="1800" b="1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Абстрактный тип данных (</a:t>
            </a:r>
            <a:r>
              <a:rPr lang="ru" sz="1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АТД)</a:t>
            </a:r>
            <a:r>
              <a:rPr lang="ru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- совокупность данных и выполняемых над ними операций. 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Операции описывают данные для остальной части программы и позволяют их изменять.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algn="l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ru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АТД включает в себя абстракцию как через параметризацию, так и через спецификацию.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93;p17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Google Shape;94;p17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Google Shape;95;p17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Google Shape;96;p17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Google Shape;97;p17"/>
          <p:cNvSpPr/>
          <p:nvPr/>
        </p:nvSpPr>
        <p:spPr>
          <a:xfrm>
            <a:off x="483120" y="476640"/>
            <a:ext cx="8180640" cy="1155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Абстракция через параметризацию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9;p17"/>
          <p:cNvSpPr/>
          <p:nvPr/>
        </p:nvSpPr>
        <p:spPr>
          <a:xfrm>
            <a:off x="905760" y="1783440"/>
            <a:ext cx="7944120" cy="22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spAutoFit/>
          </a:bodyPr>
          <a:p>
            <a:pPr marL="101520">
              <a:lnSpc>
                <a:spcPct val="11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800" b="1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Абстракция через параметризацию</a:t>
            </a:r>
            <a:r>
              <a:rPr lang="ru" sz="1800" b="1" i="1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" sz="1800" b="1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(АП)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 позволяет, используя параметры, представить набор различных операций одной программой, которая является абстракцей всех этих наборов. Аппарат формальных и фактических параметров процедур в языках высокого уровня осуществляет АП.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05;p18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Google Shape;106;p18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Google Shape;107;p18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Google Shape;108;p18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Google Shape;109;p18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Абстракция через параметризацию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11;p18"/>
          <p:cNvSpPr/>
          <p:nvPr/>
        </p:nvSpPr>
        <p:spPr>
          <a:xfrm>
            <a:off x="839520" y="1829520"/>
            <a:ext cx="4418280" cy="48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spAutoFit/>
          </a:bodyPr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2B91AF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Array[100];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Consolas"/>
              </a:rPr>
              <a:t>//инициализация массива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2B91AF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max_index = 0;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2B91AF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max_value = Array[0];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(</a:t>
            </a:r>
            <a:r>
              <a:rPr lang="ru" sz="1100" b="0" u="none" strike="noStrike">
                <a:solidFill>
                  <a:srgbClr val="2B91AF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i = 1; i &lt; 100; i++)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	</a:t>
            </a:r>
            <a:r>
              <a:rPr lang="ru" sz="11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(a[i] &gt; max_value)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	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	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	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max_value = a[i];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	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	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max_index = i;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	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28600">
              <a:lnSpc>
                <a:spcPct val="110000"/>
              </a:lnSpc>
              <a:spcBef>
                <a:spcPts val="799"/>
              </a:spcBef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115000"/>
              </a:lnSpc>
              <a:spcBef>
                <a:spcPts val="799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01520">
              <a:lnSpc>
                <a:spcPct val="115000"/>
              </a:lnSpc>
              <a:spcBef>
                <a:spcPts val="799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6" name="Google Shape;112;p18"/>
          <p:cNvSpPr/>
          <p:nvPr/>
        </p:nvSpPr>
        <p:spPr>
          <a:xfrm>
            <a:off x="5935680" y="1632960"/>
            <a:ext cx="24814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13;p18"/>
          <p:cNvSpPr/>
          <p:nvPr/>
        </p:nvSpPr>
        <p:spPr>
          <a:xfrm>
            <a:off x="5355720" y="1829520"/>
            <a:ext cx="306108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2B91AF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Array[100];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Consolas"/>
              </a:rPr>
              <a:t>//инициализация массива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>
              <a:lnSpc>
                <a:spcPct val="8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ru" sz="1100" b="0" u="none" strike="noStrike">
                <a:solidFill>
                  <a:srgbClr val="2B91AF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max_value = GetMaxValue(a);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>
              <a:lnSpc>
                <a:spcPct val="80000"/>
              </a:lnSpc>
              <a:spcBef>
                <a:spcPts val="799"/>
              </a:spcBef>
              <a:spcAft>
                <a:spcPts val="799"/>
              </a:spcAft>
              <a:tabLst>
                <a:tab pos="0" algn="l"/>
              </a:tabLst>
            </a:pPr>
            <a:r>
              <a:rPr lang="ru" sz="1100" b="0" u="none" strike="noStrike">
                <a:solidFill>
                  <a:srgbClr val="2B91AF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 max_index = GetMaxIndex(a);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18;p19"/>
          <p:cNvSpPr/>
          <p:nvPr/>
        </p:nvSpPr>
        <p:spPr>
          <a:xfrm>
            <a:off x="0" y="0"/>
            <a:ext cx="914148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Google Shape;119;p19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Google Shape;120;p19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Google Shape;121;p19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Google Shape;122;p19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Google Shape;123;p19"/>
          <p:cNvSpPr/>
          <p:nvPr/>
        </p:nvSpPr>
        <p:spPr>
          <a:xfrm>
            <a:off x="483120" y="476640"/>
            <a:ext cx="8180640" cy="1155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Абстракция через спецификацию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9520" y="1965600"/>
            <a:ext cx="7577640" cy="31777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101520" indent="0" algn="l">
              <a:lnSpc>
                <a:spcPct val="115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ru" sz="1800" b="1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Абстракция через спецификацию (АС)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 позволяет абстрагироваться от процесса вычислений, описанных в теле процедуры, до уровня знания того, что данная процедура должна в итоге реализовать. Это достигается путем задания для каждой процедуры спецификации, описывающей эффект ее работы. При этом смысл обращения к процедуре становится ясным через анализ ее спецификации, а не тела процедуры.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799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30;p20"/>
          <p:cNvSpPr/>
          <p:nvPr/>
        </p:nvSpPr>
        <p:spPr>
          <a:xfrm>
            <a:off x="1080" y="4896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Google Shape;131;p20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Google Shape;132;p20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Google Shape;133;p20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Google Shape;134;p20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Google Shape;135;p20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Требования к АТД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9520" y="1965600"/>
            <a:ext cx="7577640" cy="17197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457200" indent="-343080" algn="l">
              <a:lnSpc>
                <a:spcPct val="115000"/>
              </a:lnSpc>
              <a:spcBef>
                <a:spcPts val="7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АТД должен уметь работать только со своими данными.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АТД не должны зависеть от внешнего состояния приложения.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9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Для того, чтобы получить данные используйте методы для доступа к данным или классы реализующие такую возможность.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42;p21"/>
          <p:cNvSpPr/>
          <p:nvPr/>
        </p:nvSpPr>
        <p:spPr>
          <a:xfrm>
            <a:off x="1080" y="4896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Google Shape;143;p21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Google Shape;144;p21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Google Shape;145;p21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Google Shape;146;p21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Google Shape;147;p21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Различие между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АТД и структурами данных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82720" y="1850040"/>
            <a:ext cx="8259840" cy="3144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indent="0" algn="l">
              <a:lnSpc>
                <a:spcPct val="115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Различие между абстрактными типами данных и структурами данных, 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которые реализуют абстрактные типы, можно пояснить на следующем 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примере. Абстрактный тип данных список может быть реализован при 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помощи массива или линейного списка с использованием различных 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методов динамического выделения памяти. Однако каждая 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реализация определяет один и тот же набор функций, который должен 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работать одинаково (по результату, а не по скорости) для всех </a:t>
            </a:r>
            <a:r>
              <a:rPr lang="ru" sz="1800" b="0" u="none" strike="noStrike">
                <a:solidFill>
                  <a:srgbClr val="424242"/>
                </a:solidFill>
                <a:effectLst/>
                <a:uFillTx/>
                <a:latin typeface="Arial"/>
                <a:ea typeface="Arial"/>
              </a:rPr>
              <a:t>реализаций</a:t>
            </a:r>
            <a:r>
              <a:rPr lang="ru" sz="1100" b="0" u="none" strike="noStrike">
                <a:solidFill>
                  <a:srgbClr val="424242"/>
                </a:solidFill>
                <a:effectLst/>
                <a:uFillTx/>
                <a:latin typeface="Verdana"/>
                <a:ea typeface="Verdana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54;p22"/>
          <p:cNvSpPr/>
          <p:nvPr/>
        </p:nvSpPr>
        <p:spPr>
          <a:xfrm>
            <a:off x="1080" y="4896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Google Shape;155;p22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Google Shape;156;p22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Google Shape;157;p22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Google Shape;158;p22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Google Shape;159;p22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Преимущества АТД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7499880" cy="1991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457200" indent="-343080" algn="l">
              <a:lnSpc>
                <a:spcPct val="115000"/>
              </a:lnSpc>
              <a:spcBef>
                <a:spcPts val="799"/>
              </a:spcBef>
              <a:buClr>
                <a:srgbClr val="424242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11111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Инкапсуляция деталей реализации.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11111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11111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Снижение сложности.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11111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11111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Ограничение области использования данных.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11111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11111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Высокая информативность интерфейса.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66;p23"/>
          <p:cNvSpPr/>
          <p:nvPr/>
        </p:nvSpPr>
        <p:spPr>
          <a:xfrm>
            <a:off x="1080" y="4896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Google Shape;167;p23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Google Shape;168;p23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Google Shape;169;p23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Google Shape;170;p23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Google Shape;171;p23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Контейнеры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7499880" cy="3359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457200" indent="-343080" algn="l">
              <a:lnSpc>
                <a:spcPct val="115000"/>
              </a:lnSpc>
              <a:buClr>
                <a:srgbClr val="111111"/>
              </a:buClr>
              <a:buFont typeface="Arial"/>
              <a:buAutoNum type="arabicPeriod"/>
            </a:pPr>
            <a:r>
              <a:rPr lang="ru" sz="1800" b="1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Контейнер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– набор однотипных элементов. Встроенные массивы в С++ - частный случай контейнера.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11111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Контейнер – это объект. Имя контейнера – это имя переменной.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78;p24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Google Shape;179;p24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Google Shape;180;p24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Google Shape;181;p24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Google Shape;182;p24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Google Shape;183;p24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Свойства контейнеров.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7499880" cy="3359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457200" indent="-343080" algn="l">
              <a:lnSpc>
                <a:spcPct val="115000"/>
              </a:lnSpc>
              <a:buClr>
                <a:srgbClr val="111111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Контейнер, так же как и другие объекты, обладает временем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жизни. Время жизни контейнера в общем случае не зависит от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времени жизни его элементов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12529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Элементами контейнера могут любые объекты, в том числе, и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другие контейнеры.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12529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Контейнеры могут быть фиксированного и переменного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размера. В контейнере фиксированного размера число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элементов постоянное, оно обычно задается при создании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контейнер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90;p25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Google Shape;191;p25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Google Shape;192;p25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Google Shape;193;p25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Google Shape;194;p25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Google Shape;195;p25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Виды контейнеров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7499880" cy="3359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457200" indent="-343080" algn="l">
              <a:lnSpc>
                <a:spcPct val="115000"/>
              </a:lnSpc>
              <a:buClr>
                <a:srgbClr val="111111"/>
              </a:buClr>
              <a:buFont typeface="Verdana"/>
              <a:buAutoNum type="arabicPeriod"/>
            </a:pPr>
            <a:r>
              <a:rPr lang="ru" sz="1800" b="1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LIFO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(Last In First Out - последним пришел первый вышел) - вставка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и удаление осуществляется на одном конце.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12529"/>
              </a:buClr>
              <a:buFont typeface="Verdana"/>
              <a:buAutoNum type="arabicPeriod"/>
            </a:pPr>
            <a:r>
              <a:rPr lang="ru" sz="1800" b="1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FIFO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(First In First Out - последним пришел последним вышел) - </a:t>
            </a: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вставка и удаление осуществляется на разных концах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202;p26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Google Shape;203;p26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Google Shape;204;p26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Google Shape;205;p26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Google Shape;206;p26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Google Shape;207;p26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Операции контейнеров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7499880" cy="3359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457200" indent="-343080" algn="l">
              <a:lnSpc>
                <a:spcPct val="115000"/>
              </a:lnSpc>
              <a:spcBef>
                <a:spcPts val="300"/>
              </a:spcBef>
              <a:buClr>
                <a:srgbClr val="212529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Операции доступа к элементам, которые обеспечивают и операцию замены значений элементов;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12529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Операции добавления и удаления элементов или групп элементов;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12529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Операции поиска элементов и групп элементов;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12529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Операции объединения контейнеров;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12529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12529"/>
                </a:solidFill>
                <a:effectLst/>
                <a:uFillTx/>
                <a:latin typeface="Arial"/>
                <a:ea typeface="Arial"/>
              </a:rPr>
              <a:t>Специальные операции, которые зависят от вида контейнера.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401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226;p28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Google Shape;227;p28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Google Shape;228;p28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Google Shape;229;p28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Google Shape;230;p28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Google Shape;231;p28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Итераторы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7499880" cy="3359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indent="0" algn="l">
              <a:lnSpc>
                <a:spcPct val="9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ru" sz="1800" b="1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Итератор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 (от англ. </a:t>
            </a:r>
            <a:r>
              <a:rPr lang="ru" sz="1800" b="0" i="1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iterator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 ― перечислитель) — интерфейс, 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предоставляющий доступ к элементам коллекции(массива или 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контейнера) и навигацию по ним.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Главное предназначение итераторов заключается в 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предоставлении возможности пользователю обращаться к 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любому элементу контейнера при сокрытии внутренней 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структуры контейнера от пользователя. Это позволяет 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контейнеру хранить элементы любым способом при 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допустимости работы пользователя с ним как с простой 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последовательностью или списком.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238;p29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Google Shape;239;p29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Google Shape;240;p29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Google Shape;241;p29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Google Shape;242;p29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Google Shape;243;p29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Свойства итераторов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7499880" cy="3359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marL="457200" indent="-343080" algn="l">
              <a:lnSpc>
                <a:spcPct val="115000"/>
              </a:lnSpc>
              <a:spcBef>
                <a:spcPts val="799"/>
              </a:spcBef>
              <a:buClr>
                <a:srgbClr val="202122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Итератор указывает на отдельный элемент коллекции объектов (предоставляет </a:t>
            </a:r>
            <a:r>
              <a:rPr lang="ru" sz="1800" b="0" i="1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доступ к элементу</a:t>
            </a: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02122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Содержит функции для перехода к другому элементу списка (следующему или предыдущему).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202122"/>
              </a:buClr>
              <a:buFont typeface="Arial"/>
              <a:buAutoNum type="arabicPeriod"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Контейнер, который реализует поддержку итераторов, должен предоставлять первый элемент списка, а также возможность проверить, перебраны ли все элементы контейнера (является ли итератор конечным)..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238;p 1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Google Shape;239;p 2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Google Shape;240;p 2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Google Shape;241;p 2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Google Shape;242;p 2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Google Shape;243;p 2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Постановка задачи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8224920" cy="3359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1. Определить класс-контейнер.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2. Реализовать конструкторы, деструктор, операции ввода-вывода, операцию присваивания.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3. Перегрузить операции, указанные в варианте.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4. Реализовать класс-итератор. Реализовать с его помощью операции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последовательного доступа.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5. Написать тестирующую программу, иллюстрирующую выполнение операций.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238;p 2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Google Shape;239;p 3"/>
          <p:cNvSpPr/>
          <p:nvPr/>
        </p:nvSpPr>
        <p:spPr>
          <a:xfrm>
            <a:off x="307440" y="766800"/>
            <a:ext cx="531720" cy="1571400"/>
          </a:xfrm>
          <a:custGeom>
            <a:avLst/>
            <a:gdLst>
              <a:gd name="textAreaLeft" fmla="*/ 0 w 531720"/>
              <a:gd name="textAreaRight" fmla="*/ 532080 w 531720"/>
              <a:gd name="textAreaTop" fmla="*/ 0 h 1571400"/>
              <a:gd name="textAreaBottom" fmla="*/ 1571760 h 1571400"/>
            </a:gdLst>
            <a:ahLst/>
            <a:cxnLst/>
            <a:rect l="textAreaLeft" t="textAreaTop" r="textAreaRight" b="textAreaBottom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ogle Shape;240;p 3"/>
          <p:cNvSpPr/>
          <p:nvPr/>
        </p:nvSpPr>
        <p:spPr>
          <a:xfrm>
            <a:off x="307440" y="628200"/>
            <a:ext cx="302040" cy="1278720"/>
          </a:xfrm>
          <a:custGeom>
            <a:avLst/>
            <a:gdLst>
              <a:gd name="textAreaLeft" fmla="*/ 0 w 302040"/>
              <a:gd name="textAreaRight" fmla="*/ 302400 w 302040"/>
              <a:gd name="textAreaTop" fmla="*/ 0 h 1278720"/>
              <a:gd name="textAreaBottom" fmla="*/ 1279080 h 1278720"/>
            </a:gdLst>
            <a:ahLst/>
            <a:cxnLst/>
            <a:rect l="textAreaLeft" t="textAreaTop" r="textAreaRight" b="textAreaBottom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Google Shape;241;p 3"/>
          <p:cNvSpPr/>
          <p:nvPr/>
        </p:nvSpPr>
        <p:spPr>
          <a:xfrm>
            <a:off x="483480" y="480600"/>
            <a:ext cx="126000" cy="1284480"/>
          </a:xfrm>
          <a:custGeom>
            <a:avLst/>
            <a:gdLst>
              <a:gd name="textAreaLeft" fmla="*/ 0 w 126000"/>
              <a:gd name="textAreaRight" fmla="*/ 126360 w 126000"/>
              <a:gd name="textAreaTop" fmla="*/ 0 h 1284480"/>
              <a:gd name="textAreaBottom" fmla="*/ 1284840 h 1284480"/>
            </a:gdLst>
            <a:ahLst/>
            <a:cxnLst/>
            <a:rect l="textAreaLeft" t="textAreaTop" r="textAreaRight" b="textAreaBottom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34200" rIns="630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Google Shape;242;p 3"/>
          <p:cNvSpPr/>
          <p:nvPr/>
        </p:nvSpPr>
        <p:spPr>
          <a:xfrm>
            <a:off x="8417520" y="476640"/>
            <a:ext cx="246240" cy="1306440"/>
          </a:xfrm>
          <a:custGeom>
            <a:avLst/>
            <a:gdLst>
              <a:gd name="textAreaLeft" fmla="*/ 0 w 246240"/>
              <a:gd name="textAreaRight" fmla="*/ 246600 w 246240"/>
              <a:gd name="textAreaTop" fmla="*/ 0 h 1306440"/>
              <a:gd name="textAreaBottom" fmla="*/ 1306800 h 1306440"/>
            </a:gdLst>
            <a:ahLst/>
            <a:cxnLst/>
            <a:rect l="textAreaLeft" t="textAreaTop" r="textAreaRight" b="textAreaBottom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Google Shape;243;p 3"/>
          <p:cNvSpPr/>
          <p:nvPr/>
        </p:nvSpPr>
        <p:spPr>
          <a:xfrm>
            <a:off x="483120" y="476640"/>
            <a:ext cx="8180640" cy="1155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t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18920" y="600120"/>
            <a:ext cx="7698240" cy="908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3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Условие. Вариант 15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917280" y="1783440"/>
            <a:ext cx="8224920" cy="3359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Класс- контейнер СПИСОК с ключевыми значениями типа 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Реализовать: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List::operator[] – доступа по индексу;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List::operator() – определение размера списка;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List::operator* – умножение элементов списков a[i]*b[i];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799"/>
              </a:spcBef>
              <a:buNone/>
            </a:pPr>
            <a:r>
              <a:rPr lang="ru" sz="1800" b="0" u="none" strike="noStrike">
                <a:solidFill>
                  <a:srgbClr val="202122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Iterator::operator+ - переход вправо на n элементов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238;p 3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5" name=""/>
          <p:cNvPicPr/>
          <p:nvPr/>
        </p:nvPicPr>
        <p:blipFill>
          <a:blip r:embed="rId1"/>
          <a:stretch/>
        </p:blipFill>
        <p:spPr>
          <a:xfrm>
            <a:off x="457200" y="228600"/>
            <a:ext cx="8010000" cy="460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238;p 4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7" name=""/>
          <p:cNvPicPr/>
          <p:nvPr/>
        </p:nvPicPr>
        <p:blipFill>
          <a:blip r:embed="rId1"/>
          <a:stretch/>
        </p:blipFill>
        <p:spPr>
          <a:xfrm>
            <a:off x="457200" y="228600"/>
            <a:ext cx="8010000" cy="460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238;p 5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57200" y="228600"/>
            <a:ext cx="8229600" cy="457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class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BiNode 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2200"/>
            </a:b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friend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200"/>
            </a:b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friend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200"/>
            </a:b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BiNode 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lang="en-US" sz="2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prev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200"/>
            </a:b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BiNode 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lang="en-US" sz="2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next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200"/>
            </a:b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US" sz="2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200"/>
            </a:br>
            <a:br>
              <a:rPr sz="2200"/>
            </a:b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...</a:t>
            </a:r>
            <a:br>
              <a:rPr sz="2200"/>
            </a:b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238;p 6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457200" y="120600"/>
            <a:ext cx="8229600" cy="527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class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BiNode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lang="en-US" sz="1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head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BiNode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lang="en-US" sz="1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tail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US" sz="1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public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BiList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...</a:t>
            </a: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void 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pushBack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void 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popBack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...</a:t>
            </a: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[](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&amp;);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operator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()() {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US" sz="1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}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&amp;);</a:t>
            </a: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friend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ostream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&lt;&lt;(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ostream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&amp;,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friend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istream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&gt;&gt;(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istream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&amp;,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 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&amp;);</a:t>
            </a: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1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head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}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 </a:t>
            </a:r>
            <a:r>
              <a:rPr lang="en-US" sz="12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1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tail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-&gt;</a:t>
            </a:r>
            <a:r>
              <a:rPr lang="en-US" sz="12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next</a:t>
            </a:r>
            <a:r>
              <a:rPr lang="en-US" sz="1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}</a:t>
            </a:r>
            <a:br>
              <a:rPr sz="1200"/>
            </a:br>
            <a:r>
              <a:rPr lang="en-US" sz="1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200"/>
            </a:b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38;p 7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57200" y="228600"/>
            <a:ext cx="8229600" cy="477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class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BiNode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node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public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</a:t>
            </a: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. . .</a:t>
            </a: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bool operator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==(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node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==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node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}</a:t>
            </a: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bool operator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!=(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node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!=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node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}</a:t>
            </a:r>
            <a:r>
              <a:rPr lang="en-US" sz="1600" b="0" u="none" strike="noStrik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++();</a:t>
            </a: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--();</a:t>
            </a: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+(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-(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US" sz="16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value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 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node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-&gt;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void </a:t>
            </a:r>
            <a:r>
              <a:rPr lang="en-US" sz="16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setValue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16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node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-&gt;</a:t>
            </a:r>
            <a:r>
              <a:rPr lang="en-US" sz="1600" b="0" u="none" strike="noStrik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 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}</a:t>
            </a:r>
            <a:br>
              <a:rPr sz="1600"/>
            </a:br>
            <a:r>
              <a:rPr lang="en-US" sz="16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6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238;p 8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pPr algn="ctr"/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57200" y="228600"/>
            <a:ext cx="3657600" cy="457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main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2000"/>
            </a:b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 list1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cin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&gt;&gt;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list1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&gt;&gt;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BiList list3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0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20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US" sz="2000" b="0" u="none" strike="noStrik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++)</a:t>
            </a:r>
            <a:br>
              <a:rPr sz="2000"/>
            </a:b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-</a:t>
            </a:r>
            <a:r>
              <a:rPr lang="en-US" sz="2000" b="0" u="none" strike="noStrik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list1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list3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 . .</a:t>
            </a: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572000" y="516600"/>
            <a:ext cx="4343400" cy="457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Size?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Elements? 1 2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Size?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Elements? 4 5 6 7 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-1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-1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-1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-1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-1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18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238;p 9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57200" y="228600"/>
            <a:ext cx="8229600" cy="460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Iterator iter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list1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!=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++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2000"/>
            </a:b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value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 '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lang="en-US" sz="2000" b="0" u="none" strike="noStrik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lang="en-US" sz="2000" b="0" u="none" strike="noStrik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list1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lang="en-US" sz="2000" b="0" u="none" strike="noStrik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).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value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 '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--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).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value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 '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- </a:t>
            </a:r>
            <a:r>
              <a:rPr lang="en-US" sz="2000" b="0" u="none" strike="noStrik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).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value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 '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0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000" b="0" u="none" strike="noStrik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lang="en-US" sz="2000" b="0" u="none" strike="noStrik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lang="en-US" sz="2000" b="0" u="none" strike="noStrik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 .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572360" y="588600"/>
            <a:ext cx="4343400" cy="457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1 2 3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1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238;p 10"/>
          <p:cNvSpPr/>
          <p:nvPr/>
        </p:nvSpPr>
        <p:spPr>
          <a:xfrm>
            <a:off x="1080" y="78480"/>
            <a:ext cx="91411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57200" y="1371600"/>
            <a:ext cx="8229600" cy="460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 </a:t>
            </a:r>
            <a:r>
              <a:rPr lang="en-US" sz="2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2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 </a:t>
            </a:r>
            <a:r>
              <a:rPr lang="en-US" sz="2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lang="en-US" sz="2200" b="0" u="none" strike="noStrik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iter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2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setValue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2200" b="0" u="none" strike="noStrik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lang="en-US" sz="2200" b="0" u="none" strike="noStrik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list2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                  -1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-1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-1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-1</a:t>
            </a:r>
            <a:r>
              <a:rPr lang="en-US" sz="2200" b="0" u="none" strike="noStrik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Application>LibreOffice/26.2.2.2$Linux_X86_64 LibreOffice_project/620$Build-2</Application>
  <AppVersion>15.0000</AppVersion>
  <Words>809</Words>
  <Paragraphs>82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2026-04-09T04:24:23Z</cp:lastPrinted>
  <dcterms:modified xsi:type="dcterms:W3CDTF">2026-04-09T04:24:12Z</dcterms:modified>
  <cp:revision>7</cp:revision>
  <dc:subject/>
  <dc:title>Абстрактные типы данных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Экран (16:9)</vt:lpwstr>
  </property>
  <property fmtid="{D5CDD505-2E9C-101B-9397-08002B2CF9AE}" pid="4" name="Slides">
    <vt:i4>34</vt:i4>
  </property>
</Properties>
</file>